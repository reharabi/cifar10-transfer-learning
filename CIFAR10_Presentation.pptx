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CIFAR-10 Image Classification</a:t>
            </a:r>
          </a:p>
          <a:p>
            <a:pPr algn="ctr"/>
            <a:r>
              <a:rPr sz="4000" b="1" i="0">
                <a:solidFill>
                  <a:srgbClr val="58A6FF"/>
                </a:solidFill>
                <a:latin typeface="Calibri"/>
              </a:rPr>
              <a:t>with Transfer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4B4BE"/>
                </a:solidFill>
                <a:latin typeface="Calibri"/>
              </a:rPr>
              <a:t>ResNet50  |  Masterschool Data Science &amp; Machine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572000"/>
            <a:ext cx="365760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87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58A6FF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400"/>
              </a:spcAft>
            </a:pPr>
            <a:r>
              <a:rPr sz="2000" b="0" i="0">
                <a:solidFill>
                  <a:srgbClr val="B4B4BE"/>
                </a:solidFill>
                <a:latin typeface="Calibri"/>
              </a:rPr>
              <a:t>•  CIFAR-10: 10 classes, 32×32 RGB images</a:t>
            </a:r>
          </a:p>
          <a:p>
            <a:pPr algn="l">
              <a:lnSpc>
                <a:spcPts val="2800"/>
              </a:lnSpc>
              <a:spcAft>
                <a:spcPts val="400"/>
              </a:spcAft>
            </a:pPr>
            <a:r>
              <a:rPr sz="2000" b="0" i="0">
                <a:solidFill>
                  <a:srgbClr val="B4B4BE"/>
                </a:solidFill>
                <a:latin typeface="Calibri"/>
              </a:rPr>
              <a:t>•  10,000 training images (subset of 50,000)</a:t>
            </a:r>
          </a:p>
          <a:p>
            <a:pPr algn="l">
              <a:lnSpc>
                <a:spcPts val="2800"/>
              </a:lnSpc>
              <a:spcAft>
                <a:spcPts val="400"/>
              </a:spcAft>
            </a:pPr>
            <a:r>
              <a:rPr sz="2000" b="0" i="0">
                <a:solidFill>
                  <a:srgbClr val="B4B4BE"/>
                </a:solidFill>
                <a:latin typeface="Calibri"/>
              </a:rPr>
              <a:t>•  Goal: Classify using pretrained ResNet50</a:t>
            </a:r>
          </a:p>
          <a:p>
            <a:pPr algn="l">
              <a:lnSpc>
                <a:spcPts val="2800"/>
              </a:lnSpc>
              <a:spcAft>
                <a:spcPts val="400"/>
              </a:spcAft>
            </a:pPr>
            <a:r>
              <a:rPr sz="2000" b="0" i="0">
                <a:solidFill>
                  <a:srgbClr val="F0883E"/>
                </a:solidFill>
                <a:latin typeface="Calibri"/>
              </a:rPr>
              <a:t>•  Challenge: Low resolution + limited data + large model (23.5M params)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114800"/>
            <a:ext cx="7863840" cy="1645920"/>
          </a:xfrm>
          <a:prstGeom prst="roundRect">
            <a:avLst/>
          </a:prstGeom>
          <a:solidFill>
            <a:srgbClr val="1419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5196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1" i="0">
                <a:solidFill>
                  <a:srgbClr val="58A6FF"/>
                </a:solidFill>
                <a:latin typeface="Calibri"/>
              </a:rPr>
              <a:t>Why is this hard?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600" b="0" i="0">
                <a:solidFill>
                  <a:srgbClr val="B4B4BE"/>
                </a:solidFill>
                <a:latin typeface="Calibri"/>
              </a:rPr>
              <a:t>ResNet50 was designed for 224×224 ImageNet images. Adapting it to tiny 32×32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600" b="0" i="0">
                <a:solidFill>
                  <a:srgbClr val="B4B4BE"/>
                </a:solidFill>
                <a:latin typeface="Calibri"/>
              </a:rPr>
              <a:t>CIFAR-10 images with only 10K samples requires careful transfer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87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58A6FF"/>
                </a:solidFill>
                <a:latin typeface="Calibri"/>
              </a:rPr>
              <a:t>Approach &amp;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CIFAR-10  →  preprocess_input()  →  ResNet50 (ImageNet)</a:t>
            </a:r>
          </a:p>
          <a:p>
            <a:r>
              <a:rPr sz="1000" b="0" i="0">
                <a:solidFill>
                  <a:srgbClr val="0D1117"/>
                </a:solidFill>
                <a:latin typeface="Calibri"/>
              </a:rPr>
              <a:t> </a:t>
            </a:r>
          </a:p>
          <a:p>
            <a:pPr algn="l">
              <a:lnSpc>
                <a:spcPts val="3000"/>
              </a:lnSpc>
              <a:spcAft>
                <a:spcPts val="600"/>
              </a:spcAft>
            </a:pPr>
            <a:r>
              <a:rPr sz="1800" b="0" i="0">
                <a:solidFill>
                  <a:srgbClr val="B4B4BE"/>
                </a:solidFill>
                <a:latin typeface="Calibri"/>
              </a:rPr>
              <a:t>→  Phase 1: Freeze backbone, train head</a:t>
            </a:r>
          </a:p>
          <a:p>
            <a:pPr algn="l">
              <a:lnSpc>
                <a:spcPts val="3000"/>
              </a:lnSpc>
              <a:spcAft>
                <a:spcPts val="600"/>
              </a:spcAft>
            </a:pPr>
            <a:r>
              <a:rPr sz="1800" b="0" i="0">
                <a:solidFill>
                  <a:srgbClr val="B4B4BE"/>
                </a:solidFill>
                <a:latin typeface="Calibri"/>
              </a:rPr>
              <a:t>→  Phase 2: Unfreeze same model, fine-tune</a:t>
            </a:r>
          </a:p>
          <a:p>
            <a:pPr algn="l">
              <a:lnSpc>
                <a:spcPts val="3000"/>
              </a:lnSpc>
              <a:spcAft>
                <a:spcPts val="600"/>
              </a:spcAft>
            </a:pPr>
            <a:r>
              <a:rPr sz="1800" b="0" i="0">
                <a:solidFill>
                  <a:srgbClr val="B4B4BE"/>
                </a:solidFill>
                <a:latin typeface="Calibri"/>
              </a:rPr>
              <a:t>→  v3: Dropout + Early Stopping</a:t>
            </a:r>
          </a:p>
          <a:p>
            <a:pPr algn="l">
              <a:lnSpc>
                <a:spcPts val="3000"/>
              </a:lnSpc>
              <a:spcAft>
                <a:spcPts val="600"/>
              </a:spcAft>
            </a:pPr>
            <a:r>
              <a:rPr sz="1800" b="1" i="0">
                <a:solidFill>
                  <a:srgbClr val="7EE787"/>
                </a:solidFill>
                <a:latin typeface="Calibri"/>
              </a:rPr>
              <a:t>→  v4: Augmentation + Partial Unfreeze + LR Schedule</a:t>
            </a:r>
          </a:p>
          <a:p>
            <a:pPr algn="l">
              <a:lnSpc>
                <a:spcPts val="3000"/>
              </a:lnSpc>
              <a:spcAft>
                <a:spcPts val="600"/>
              </a:spcAft>
            </a:pPr>
            <a:r>
              <a:rPr sz="1800" b="0" i="0">
                <a:solidFill>
                  <a:srgbClr val="B4B4BE"/>
                </a:solidFill>
                <a:latin typeface="Calibri"/>
              </a:rPr>
              <a:t>→  MobileNetV2: Architecture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378561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7EE787"/>
                </a:solidFill>
                <a:latin typeface="Calibri"/>
              </a:rPr>
              <a:t>← BEST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87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58A6FF"/>
                </a:solidFill>
                <a:latin typeface="Calibri"/>
              </a:rPr>
              <a:t>The Preprocessing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749039" cy="1645920"/>
          </a:xfrm>
          <a:prstGeom prst="roundRect">
            <a:avLst/>
          </a:prstGeom>
          <a:solidFill>
            <a:srgbClr val="2314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1" i="0">
                <a:solidFill>
                  <a:srgbClr val="F0883E"/>
                </a:solidFill>
                <a:latin typeface="Calibri"/>
              </a:rPr>
              <a:t>✗  Wrong: /255.0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600" b="0" i="0">
                <a:solidFill>
                  <a:srgbClr val="B4B4BE"/>
                </a:solidFill>
                <a:latin typeface="Calibri"/>
              </a:rPr>
              <a:t>Values in [0, 1]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600" b="0" i="0">
                <a:solidFill>
                  <a:srgbClr val="B4B4BE"/>
                </a:solidFill>
                <a:latin typeface="Calibri"/>
              </a:rPr>
              <a:t>Mismatched with ImageNet stats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371600"/>
            <a:ext cx="4114800" cy="1645920"/>
          </a:xfrm>
          <a:prstGeom prst="roundRect">
            <a:avLst/>
          </a:prstGeom>
          <a:solidFill>
            <a:srgbClr val="0F1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46304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1" i="0">
                <a:solidFill>
                  <a:srgbClr val="7EE787"/>
                </a:solidFill>
                <a:latin typeface="Calibri"/>
              </a:rPr>
              <a:t>✓  Right: preprocess_input()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600" b="0" i="0">
                <a:solidFill>
                  <a:srgbClr val="B4B4BE"/>
                </a:solidFill>
                <a:latin typeface="Calibri"/>
              </a:rPr>
              <a:t>RGB→BGR + mean subtraction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600" b="0" i="0">
                <a:solidFill>
                  <a:srgbClr val="B4B4BE"/>
                </a:solidFill>
                <a:latin typeface="Calibri"/>
              </a:rPr>
              <a:t>Values in [-128, 151]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7863840" cy="1097280"/>
          </a:xfrm>
          <a:prstGeom prst="roundRect">
            <a:avLst/>
          </a:prstGeom>
          <a:solidFill>
            <a:srgbClr val="1419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EE787"/>
                </a:solidFill>
                <a:latin typeface="Calibri"/>
              </a:rPr>
              <a:t>+25 points test accuracy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846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58A6FF"/>
                </a:solidFill>
                <a:latin typeface="Calibri"/>
              </a:rPr>
              <a:t>"Single biggest factor in the entire project"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87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58A6FF"/>
                </a:solidFill>
                <a:latin typeface="Calibri"/>
              </a:rPr>
              <a:t>Phase 1: Frozen Backbone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7863840" cy="1097280"/>
          </a:xfrm>
          <a:prstGeom prst="roundRect">
            <a:avLst/>
          </a:prstGeom>
          <a:solidFill>
            <a:srgbClr val="1419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87887"/>
                </a:solidFill>
                <a:latin typeface="Calibri"/>
              </a:rPr>
              <a:t>Train: 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95%</a:t>
            </a:r>
            <a:r>
              <a:rPr sz="1400" b="0" i="0">
                <a:solidFill>
                  <a:srgbClr val="787887"/>
                </a:solidFill>
                <a:latin typeface="Calibri"/>
              </a:rPr>
              <a:t>   |   Val: 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56%</a:t>
            </a:r>
            <a:r>
              <a:rPr sz="1400" b="0" i="0">
                <a:solidFill>
                  <a:srgbClr val="787887"/>
                </a:solidFill>
                <a:latin typeface="Calibri"/>
              </a:rPr>
              <a:t>   |   Test: </a:t>
            </a:r>
            <a:r>
              <a:rPr sz="2600" b="1" i="0">
                <a:solidFill>
                  <a:srgbClr val="58A6FF"/>
                </a:solidFill>
                <a:latin typeface="Calibri"/>
              </a:rPr>
              <a:t>59%</a:t>
            </a:r>
          </a:p>
          <a:p>
            <a:pPr algn="ctr"/>
            <a:r>
              <a:rPr sz="1600" b="1" i="0">
                <a:solidFill>
                  <a:srgbClr val="F0883E"/>
                </a:solidFill>
                <a:latin typeface="Calibri"/>
              </a:rPr>
              <a:t>Overfitting gap: 36 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0" i="0">
                <a:solidFill>
                  <a:srgbClr val="B4B4BE"/>
                </a:solidFill>
                <a:latin typeface="Calibri"/>
              </a:rPr>
              <a:t>•  Frozen ResNet50 features work well even at 32×32</a:t>
            </a:r>
          </a:p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0" i="0">
                <a:solidFill>
                  <a:srgbClr val="B4B4BE"/>
                </a:solidFill>
                <a:latin typeface="Calibri"/>
              </a:rPr>
              <a:t>•  But severe memorization with only 10K images</a:t>
            </a:r>
          </a:p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0" i="0">
                <a:solidFill>
                  <a:srgbClr val="B4B4BE"/>
                </a:solidFill>
                <a:latin typeface="Calibri"/>
              </a:rPr>
              <a:t>•  High training accuracy indicates model can fit the data</a:t>
            </a:r>
          </a:p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0" i="0">
                <a:solidFill>
                  <a:srgbClr val="F0883E"/>
                </a:solidFill>
                <a:latin typeface="Calibri"/>
              </a:rPr>
              <a:t>•  Gap of 36 points signals heavy overfitting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87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58A6FF"/>
                </a:solidFill>
                <a:latin typeface="Calibri"/>
              </a:rPr>
              <a:t>Phase 2: Full Fine-Tuning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7863840" cy="1097280"/>
          </a:xfrm>
          <a:prstGeom prst="roundRect">
            <a:avLst/>
          </a:prstGeom>
          <a:solidFill>
            <a:srgbClr val="1419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87887"/>
                </a:solidFill>
                <a:latin typeface="Calibri"/>
              </a:rPr>
              <a:t>Train: 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85%</a:t>
            </a:r>
            <a:r>
              <a:rPr sz="1400" b="0" i="0">
                <a:solidFill>
                  <a:srgbClr val="787887"/>
                </a:solidFill>
                <a:latin typeface="Calibri"/>
              </a:rPr>
              <a:t>   |   Val: 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52%</a:t>
            </a:r>
            <a:r>
              <a:rPr sz="1400" b="0" i="0">
                <a:solidFill>
                  <a:srgbClr val="787887"/>
                </a:solidFill>
                <a:latin typeface="Calibri"/>
              </a:rPr>
              <a:t>   |   Test: </a:t>
            </a:r>
            <a:r>
              <a:rPr sz="2600" b="1" i="0">
                <a:solidFill>
                  <a:srgbClr val="F0883E"/>
                </a:solidFill>
                <a:latin typeface="Calibri"/>
              </a:rPr>
              <a:t>53%</a:t>
            </a:r>
          </a:p>
          <a:p>
            <a:pPr algn="ctr"/>
            <a:r>
              <a:rPr sz="1600" b="1" i="0">
                <a:solidFill>
                  <a:srgbClr val="F0883E"/>
                </a:solidFill>
                <a:latin typeface="Calibri"/>
              </a:rPr>
              <a:t>Test accuracy DROPPED from 59% to 53%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0" i="0">
                <a:solidFill>
                  <a:srgbClr val="F0883E"/>
                </a:solidFill>
                <a:latin typeface="Calibri"/>
              </a:rPr>
              <a:t>•  Test accuracy DROPPED from 59% → 53%</a:t>
            </a:r>
          </a:p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0" i="0">
                <a:solidFill>
                  <a:srgbClr val="B4B4BE"/>
                </a:solidFill>
                <a:latin typeface="Calibri"/>
              </a:rPr>
              <a:t>•  BatchNorm disruption damaged calibrated features</a:t>
            </a:r>
          </a:p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0" i="0">
                <a:solidFill>
                  <a:srgbClr val="B4B4BE"/>
                </a:solidFill>
                <a:latin typeface="Calibri"/>
              </a:rPr>
              <a:t>•  Training accuracy collapsed to 28% at epoch 1 before recovering</a:t>
            </a:r>
          </a:p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0" i="0">
                <a:solidFill>
                  <a:srgbClr val="B4B4BE"/>
                </a:solidFill>
                <a:latin typeface="Calibri"/>
              </a:rPr>
              <a:t>•  Full unfreezing is destructive with small 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87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58A6FF"/>
                </a:solidFill>
                <a:latin typeface="Calibri"/>
              </a:rPr>
              <a:t>v3: Regularized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7863840" cy="1097280"/>
          </a:xfrm>
          <a:prstGeom prst="roundRect">
            <a:avLst/>
          </a:prstGeom>
          <a:solidFill>
            <a:srgbClr val="1419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87887"/>
                </a:solidFill>
                <a:latin typeface="Calibri"/>
              </a:rPr>
              <a:t>Train: 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83%</a:t>
            </a:r>
            <a:r>
              <a:rPr sz="1400" b="0" i="0">
                <a:solidFill>
                  <a:srgbClr val="787887"/>
                </a:solidFill>
                <a:latin typeface="Calibri"/>
              </a:rPr>
              <a:t>   |   Val: 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60%</a:t>
            </a:r>
            <a:r>
              <a:rPr sz="1400" b="0" i="0">
                <a:solidFill>
                  <a:srgbClr val="787887"/>
                </a:solidFill>
                <a:latin typeface="Calibri"/>
              </a:rPr>
              <a:t>   |   Test: </a:t>
            </a:r>
            <a:r>
              <a:rPr sz="2600" b="1" i="0">
                <a:solidFill>
                  <a:srgbClr val="58A6FF"/>
                </a:solidFill>
                <a:latin typeface="Calibri"/>
              </a:rPr>
              <a:t>59%</a:t>
            </a:r>
          </a:p>
          <a:p>
            <a:pPr algn="ctr"/>
            <a:r>
              <a:rPr sz="1600" b="0" i="0">
                <a:solidFill>
                  <a:srgbClr val="7EE787"/>
                </a:solidFill>
                <a:latin typeface="Calibri"/>
              </a:rPr>
              <a:t>Overfitting gap reduced: 36pts → 24pts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0" i="0">
                <a:solidFill>
                  <a:srgbClr val="7EE787"/>
                </a:solidFill>
                <a:latin typeface="Calibri"/>
              </a:rPr>
              <a:t>•  Dropout(0.5) reduced overfitting gap: 36pts → 24pts</a:t>
            </a:r>
          </a:p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0" i="0">
                <a:solidFill>
                  <a:srgbClr val="B4B4BE"/>
                </a:solidFill>
                <a:latin typeface="Calibri"/>
              </a:rPr>
              <a:t>•  Early Stopping prevented late overfitting</a:t>
            </a:r>
          </a:p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0" i="0">
                <a:solidFill>
                  <a:srgbClr val="B4B4BE"/>
                </a:solidFill>
                <a:latin typeface="Calibri"/>
              </a:rPr>
              <a:t>•  Test accuracy recovered to 59% but didn't exceed Phase 1</a:t>
            </a:r>
          </a:p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0" i="0">
                <a:solidFill>
                  <a:srgbClr val="B4B4BE"/>
                </a:solidFill>
                <a:latin typeface="Calibri"/>
              </a:rPr>
              <a:t>•  Regularization alone wasn't enough to break the ceiling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87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58A6FF"/>
                </a:solidFill>
                <a:latin typeface="Calibri"/>
              </a:rPr>
              <a:t>v4: Enhanced Model (BEST)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7863840" cy="1097280"/>
          </a:xfrm>
          <a:prstGeom prst="roundRect">
            <a:avLst/>
          </a:prstGeom>
          <a:solidFill>
            <a:srgbClr val="0F1E14"/>
          </a:solidFill>
          <a:ln w="254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87887"/>
                </a:solidFill>
                <a:latin typeface="Calibri"/>
              </a:rPr>
              <a:t>Train: 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78%</a:t>
            </a:r>
            <a:r>
              <a:rPr sz="1400" b="0" i="0">
                <a:solidFill>
                  <a:srgbClr val="787887"/>
                </a:solidFill>
                <a:latin typeface="Calibri"/>
              </a:rPr>
              <a:t>   |   Val: 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66%</a:t>
            </a:r>
            <a:r>
              <a:rPr sz="1400" b="0" i="0">
                <a:solidFill>
                  <a:srgbClr val="787887"/>
                </a:solidFill>
                <a:latin typeface="Calibri"/>
              </a:rPr>
              <a:t>   |   Test: </a:t>
            </a:r>
            <a:r>
              <a:rPr sz="2600" b="1" i="0">
                <a:solidFill>
                  <a:srgbClr val="7EE787"/>
                </a:solidFill>
                <a:latin typeface="Calibri"/>
              </a:rPr>
              <a:t>65%</a:t>
            </a:r>
            <a:r>
              <a:rPr sz="2000" b="1" i="0">
                <a:solidFill>
                  <a:srgbClr val="FFD700"/>
                </a:solidFill>
                <a:latin typeface="Calibri"/>
              </a:rPr>
              <a:t>  ★ BEST</a:t>
            </a:r>
          </a:p>
          <a:p>
            <a:pPr algn="ctr"/>
            <a:r>
              <a:rPr sz="1600" b="1" i="0">
                <a:solidFill>
                  <a:srgbClr val="7EE787"/>
                </a:solidFill>
                <a:latin typeface="Calibri"/>
              </a:rPr>
              <a:t>Smallest overfitting gap: 13 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0" i="0">
                <a:solidFill>
                  <a:srgbClr val="7EE787"/>
                </a:solidFill>
                <a:latin typeface="Calibri"/>
              </a:rPr>
              <a:t>•  Data augmentation broke the 59% ceiling</a:t>
            </a:r>
          </a:p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0" i="0">
                <a:solidFill>
                  <a:srgbClr val="B4B4BE"/>
                </a:solidFill>
                <a:latin typeface="Calibri"/>
              </a:rPr>
              <a:t>•  Partial unfreezing (last 35 of 175 layers) avoided BN disruption</a:t>
            </a:r>
          </a:p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0" i="0">
                <a:solidFill>
                  <a:srgbClr val="B4B4BE"/>
                </a:solidFill>
                <a:latin typeface="Calibri"/>
              </a:rPr>
              <a:t>•  ReduceLROnPlateau: 1e-4 → 5e-5 → 2.5e-5</a:t>
            </a:r>
          </a:p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0" i="0">
                <a:solidFill>
                  <a:srgbClr val="7EE787"/>
                </a:solidFill>
                <a:latin typeface="Calibri"/>
              </a:rPr>
              <a:t>•  Smallest overfitting gap: 13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87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58A6FF"/>
                </a:solidFill>
                <a:latin typeface="Calibri"/>
              </a:rPr>
              <a:t>MobileNetV2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7863840" cy="1097280"/>
          </a:xfrm>
          <a:prstGeom prst="roundRect">
            <a:avLst/>
          </a:prstGeom>
          <a:solidFill>
            <a:srgbClr val="1419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87887"/>
                </a:solidFill>
                <a:latin typeface="Calibri"/>
              </a:rPr>
              <a:t>Train: 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45%</a:t>
            </a:r>
            <a:r>
              <a:rPr sz="1400" b="0" i="0">
                <a:solidFill>
                  <a:srgbClr val="787887"/>
                </a:solidFill>
                <a:latin typeface="Calibri"/>
              </a:rPr>
              <a:t>   |   Val: 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42%</a:t>
            </a:r>
            <a:r>
              <a:rPr sz="1400" b="0" i="0">
                <a:solidFill>
                  <a:srgbClr val="787887"/>
                </a:solidFill>
                <a:latin typeface="Calibri"/>
              </a:rPr>
              <a:t>   |   Test: </a:t>
            </a:r>
            <a:r>
              <a:rPr sz="2600" b="1" i="0">
                <a:solidFill>
                  <a:srgbClr val="F0883E"/>
                </a:solidFill>
                <a:latin typeface="Calibri"/>
              </a:rPr>
              <a:t>41%</a:t>
            </a:r>
          </a:p>
          <a:p>
            <a:pPr algn="ctr"/>
            <a:r>
              <a:rPr sz="1600" b="0" i="0">
                <a:solidFill>
                  <a:srgbClr val="B4B4BE"/>
                </a:solidFill>
                <a:latin typeface="Calibri"/>
              </a:rPr>
              <a:t>3.4M params vs ResNet50's 23.5M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0" i="0">
                <a:solidFill>
                  <a:srgbClr val="B4B4BE"/>
                </a:solidFill>
                <a:latin typeface="Calibri"/>
              </a:rPr>
              <a:t>•  3.4M params vs ResNet50's 23.5M</a:t>
            </a:r>
          </a:p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0" i="0">
                <a:solidFill>
                  <a:srgbClr val="B4B4BE"/>
                </a:solidFill>
                <a:latin typeface="Calibri"/>
              </a:rPr>
              <a:t>•  Low overfitting (4 pt gap) but low accuracy</a:t>
            </a:r>
          </a:p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0" i="0">
                <a:solidFill>
                  <a:srgbClr val="F0883E"/>
                </a:solidFill>
                <a:latin typeface="Calibri"/>
              </a:rPr>
              <a:t>•  ⚠  Used wrong preprocessing (ResNet50's instead of its own)</a:t>
            </a:r>
          </a:p>
          <a:p>
            <a:pPr algn="l">
              <a:lnSpc>
                <a:spcPts val="2500"/>
              </a:lnSpc>
              <a:spcAft>
                <a:spcPts val="400"/>
              </a:spcAft>
            </a:pPr>
            <a:r>
              <a:rPr sz="1800" b="0" i="0">
                <a:solidFill>
                  <a:srgbClr val="B4B4BE"/>
                </a:solidFill>
                <a:latin typeface="Calibri"/>
              </a:rPr>
              <a:t>•  Fair comparison requires correct preprocessing per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87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58A6FF"/>
                </a:solidFill>
                <a:latin typeface="Calibri"/>
              </a:rPr>
              <a:t>Results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78638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371600"/>
                <a:gridCol w="27432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58A6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161B22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58A6FF"/>
                          </a:solidFill>
                          <a:latin typeface="Calibri"/>
                        </a:rPr>
                        <a:t>Test Acc</a:t>
                      </a:r>
                    </a:p>
                  </a:txBody>
                  <a:tcPr anchor="ctr">
                    <a:solidFill>
                      <a:srgbClr val="161B22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58A6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anchor="ctr">
                    <a:solidFill>
                      <a:srgbClr val="161B22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58A6FF"/>
                          </a:solidFill>
                          <a:latin typeface="Calibri"/>
                        </a:rPr>
                        <a:t>Key Technique</a:t>
                      </a:r>
                    </a:p>
                  </a:txBody>
                  <a:tcPr anchor="ctr">
                    <a:solidFill>
                      <a:srgbClr val="161B22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FFFFF"/>
                          </a:solidFill>
                          <a:latin typeface="Calibri"/>
                        </a:rPr>
                        <a:t>Phase 1</a:t>
                      </a:r>
                    </a:p>
                  </a:txBody>
                  <a:tcPr anchor="ctr">
                    <a:solidFill>
                      <a:srgbClr val="12161C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58A6FF"/>
                          </a:solidFill>
                          <a:latin typeface="Calibri"/>
                        </a:rPr>
                        <a:t>59%</a:t>
                      </a:r>
                    </a:p>
                  </a:txBody>
                  <a:tcPr anchor="ctr">
                    <a:solidFill>
                      <a:srgbClr val="12161C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F0883E"/>
                          </a:solidFill>
                          <a:latin typeface="Calibri"/>
                        </a:rPr>
                        <a:t>36 pts</a:t>
                      </a:r>
                    </a:p>
                  </a:txBody>
                  <a:tcPr anchor="ctr">
                    <a:solidFill>
                      <a:srgbClr val="12161C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B4B4BE"/>
                          </a:solidFill>
                          <a:latin typeface="Calibri"/>
                        </a:rPr>
                        <a:t>Frozen backbone</a:t>
                      </a:r>
                    </a:p>
                  </a:txBody>
                  <a:tcPr anchor="ctr">
                    <a:solidFill>
                      <a:srgbClr val="12161C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FFFFF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 anchor="ctr">
                    <a:solidFill>
                      <a:srgbClr val="181D25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F0883E"/>
                          </a:solidFill>
                          <a:latin typeface="Calibri"/>
                        </a:rPr>
                        <a:t>53%</a:t>
                      </a:r>
                    </a:p>
                  </a:txBody>
                  <a:tcPr anchor="ctr">
                    <a:solidFill>
                      <a:srgbClr val="181D25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F0883E"/>
                          </a:solidFill>
                          <a:latin typeface="Calibri"/>
                        </a:rPr>
                        <a:t>32 pts</a:t>
                      </a:r>
                    </a:p>
                  </a:txBody>
                  <a:tcPr anchor="ctr">
                    <a:solidFill>
                      <a:srgbClr val="181D25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B4B4BE"/>
                          </a:solidFill>
                          <a:latin typeface="Calibri"/>
                        </a:rPr>
                        <a:t>Full unfreeze</a:t>
                      </a:r>
                    </a:p>
                  </a:txBody>
                  <a:tcPr anchor="ctr">
                    <a:solidFill>
                      <a:srgbClr val="181D25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FFFFF"/>
                          </a:solidFill>
                          <a:latin typeface="Calibri"/>
                        </a:rPr>
                        <a:t>v3</a:t>
                      </a:r>
                    </a:p>
                  </a:txBody>
                  <a:tcPr anchor="ctr">
                    <a:solidFill>
                      <a:srgbClr val="12161C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58A6FF"/>
                          </a:solidFill>
                          <a:latin typeface="Calibri"/>
                        </a:rPr>
                        <a:t>59%</a:t>
                      </a:r>
                    </a:p>
                  </a:txBody>
                  <a:tcPr anchor="ctr">
                    <a:solidFill>
                      <a:srgbClr val="12161C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B4B4BE"/>
                          </a:solidFill>
                          <a:latin typeface="Calibri"/>
                        </a:rPr>
                        <a:t>24 pts</a:t>
                      </a:r>
                    </a:p>
                  </a:txBody>
                  <a:tcPr anchor="ctr">
                    <a:solidFill>
                      <a:srgbClr val="12161C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B4B4BE"/>
                          </a:solidFill>
                          <a:latin typeface="Calibri"/>
                        </a:rPr>
                        <a:t>Dropout + ES</a:t>
                      </a:r>
                    </a:p>
                  </a:txBody>
                  <a:tcPr anchor="ctr">
                    <a:solidFill>
                      <a:srgbClr val="12161C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7EE787"/>
                          </a:solidFill>
                          <a:latin typeface="Calibri"/>
                        </a:rPr>
                        <a:t>v4 ★</a:t>
                      </a:r>
                    </a:p>
                  </a:txBody>
                  <a:tcPr anchor="ctr">
                    <a:solidFill>
                      <a:srgbClr val="181D25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7EE787"/>
                          </a:solidFill>
                          <a:latin typeface="Calibri"/>
                        </a:rPr>
                        <a:t>65%</a:t>
                      </a:r>
                    </a:p>
                  </a:txBody>
                  <a:tcPr anchor="ctr">
                    <a:solidFill>
                      <a:srgbClr val="181D25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7EE787"/>
                          </a:solidFill>
                          <a:latin typeface="Calibri"/>
                        </a:rPr>
                        <a:t>13 pts</a:t>
                      </a:r>
                    </a:p>
                  </a:txBody>
                  <a:tcPr anchor="ctr">
                    <a:solidFill>
                      <a:srgbClr val="181D25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B4B4BE"/>
                          </a:solidFill>
                          <a:latin typeface="Calibri"/>
                        </a:rPr>
                        <a:t>Aug + Partial + LR</a:t>
                      </a:r>
                    </a:p>
                  </a:txBody>
                  <a:tcPr anchor="ctr">
                    <a:solidFill>
                      <a:srgbClr val="181D25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FFFFF"/>
                          </a:solidFill>
                          <a:latin typeface="Calibri"/>
                        </a:rPr>
                        <a:t>MobileNetV2</a:t>
                      </a:r>
                    </a:p>
                  </a:txBody>
                  <a:tcPr anchor="ctr">
                    <a:solidFill>
                      <a:srgbClr val="12161C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F0883E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 anchor="ctr">
                    <a:solidFill>
                      <a:srgbClr val="12161C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B4B4BE"/>
                          </a:solidFill>
                          <a:latin typeface="Calibri"/>
                        </a:rPr>
                        <a:t>4 pts</a:t>
                      </a:r>
                    </a:p>
                  </a:txBody>
                  <a:tcPr anchor="ctr">
                    <a:solidFill>
                      <a:srgbClr val="12161C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B4B4BE"/>
                          </a:solidFill>
                          <a:latin typeface="Calibri"/>
                        </a:rPr>
                        <a:t>Alt architecture</a:t>
                      </a:r>
                    </a:p>
                  </a:txBody>
                  <a:tcPr anchor="ctr">
                    <a:solidFill>
                      <a:srgbClr val="12161C"/>
                    </a:solidFill>
                    <a:lnL w="6350">
                      <a:solidFill>
                        <a:srgbClr val="303642"/>
                      </a:solidFill>
                    </a:lnL>
                    <a:lnR w="6350">
                      <a:solidFill>
                        <a:srgbClr val="303642"/>
                      </a:solidFill>
                    </a:lnR>
                    <a:lnT w="6350">
                      <a:solidFill>
                        <a:srgbClr val="303642"/>
                      </a:solidFill>
                    </a:lnT>
                    <a:lnB w="6350">
                      <a:solidFill>
                        <a:srgbClr val="30364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87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58A6FF"/>
                </a:solidFill>
                <a:latin typeface="Calibri"/>
              </a:rPr>
              <a:t>What Worked / What Didn't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4023360" cy="4754880"/>
          </a:xfrm>
          <a:prstGeom prst="roundRect">
            <a:avLst/>
          </a:prstGeom>
          <a:solidFill>
            <a:srgbClr val="0F1C14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400"/>
              </a:spcAft>
            </a:pPr>
            <a:r>
              <a:rPr sz="2000" b="1" i="0">
                <a:solidFill>
                  <a:srgbClr val="7EE787"/>
                </a:solidFill>
                <a:latin typeface="Calibri"/>
              </a:rPr>
              <a:t>✓  What Worked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600" b="0" i="0">
                <a:solidFill>
                  <a:srgbClr val="B4B4BE"/>
                </a:solidFill>
                <a:latin typeface="Calibri"/>
              </a:rPr>
              <a:t>•  Correct preprocessing (+25pts)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600" b="0" i="0">
                <a:solidFill>
                  <a:srgbClr val="B4B4BE"/>
                </a:solidFill>
                <a:latin typeface="Calibri"/>
              </a:rPr>
              <a:t>•  Data augmentation (broke 59% ceiling)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600" b="0" i="0">
                <a:solidFill>
                  <a:srgbClr val="B4B4BE"/>
                </a:solidFill>
                <a:latin typeface="Calibri"/>
              </a:rPr>
              <a:t>•  Partial unfreezing (no BN disruption)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600" b="0" i="0">
                <a:solidFill>
                  <a:srgbClr val="B4B4BE"/>
                </a:solidFill>
                <a:latin typeface="Calibri"/>
              </a:rPr>
              <a:t>•  LR scheduling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600" b="0" i="0">
                <a:solidFill>
                  <a:srgbClr val="B4B4BE"/>
                </a:solidFill>
                <a:latin typeface="Calibri"/>
              </a:rPr>
              <a:t>•  Dropout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600" b="0" i="0">
                <a:solidFill>
                  <a:srgbClr val="B4B4BE"/>
                </a:solidFill>
                <a:latin typeface="Calibri"/>
              </a:rPr>
              <a:t>•  EarlyStopping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371600"/>
            <a:ext cx="4023360" cy="4754880"/>
          </a:xfrm>
          <a:prstGeom prst="roundRect">
            <a:avLst/>
          </a:prstGeom>
          <a:solidFill>
            <a:srgbClr val="23161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4630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400"/>
              </a:spcAft>
            </a:pPr>
            <a:r>
              <a:rPr sz="2000" b="1" i="0">
                <a:solidFill>
                  <a:srgbClr val="F0883E"/>
                </a:solidFill>
                <a:latin typeface="Calibri"/>
              </a:rPr>
              <a:t>✗  Challenges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600" b="0" i="0">
                <a:solidFill>
                  <a:srgbClr val="B4B4BE"/>
                </a:solidFill>
                <a:latin typeface="Calibri"/>
              </a:rPr>
              <a:t>•  Full unfreezing (BN disruption)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600" b="0" i="0">
                <a:solidFill>
                  <a:srgbClr val="B4B4BE"/>
                </a:solidFill>
                <a:latin typeface="Calibri"/>
              </a:rPr>
              <a:t>•  32×32 resolution (cat/dog confusion)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600" b="0" i="0">
                <a:solidFill>
                  <a:srgbClr val="B4B4BE"/>
                </a:solidFill>
                <a:latin typeface="Calibri"/>
              </a:rPr>
              <a:t>•  10K samples too few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600" b="0" i="0">
                <a:solidFill>
                  <a:srgbClr val="B4B4BE"/>
                </a:solidFill>
                <a:latin typeface="Calibri"/>
              </a:rPr>
              <a:t>•  Wrong MobileNetV2 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87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58A6FF"/>
                </a:solidFill>
                <a:latin typeface="Calibri"/>
              </a:rPr>
              <a:t>Key Decisions &amp; Trade-offs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7863840" cy="914400"/>
          </a:xfrm>
          <a:prstGeom prst="roundRect">
            <a:avLst/>
          </a:prstGeom>
          <a:solidFill>
            <a:srgbClr val="1419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7EE787"/>
                </a:solidFill>
                <a:latin typeface="Calibri"/>
              </a:rPr>
              <a:t>Preprocessing  </a:t>
            </a:r>
            <a:r>
              <a:rPr sz="2000" b="0" i="0">
                <a:solidFill>
                  <a:srgbClr val="B4B4BE"/>
                </a:solidFill>
                <a:latin typeface="Calibri"/>
              </a:rPr>
              <a:t>&gt; Architecture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7863840" cy="914400"/>
          </a:xfrm>
          <a:prstGeom prst="roundRect">
            <a:avLst/>
          </a:prstGeom>
          <a:solidFill>
            <a:srgbClr val="1419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7EE787"/>
                </a:solidFill>
                <a:latin typeface="Calibri"/>
              </a:rPr>
              <a:t>Partial unfreeze  </a:t>
            </a:r>
            <a:r>
              <a:rPr sz="2000" b="0" i="0">
                <a:solidFill>
                  <a:srgbClr val="B4B4BE"/>
                </a:solidFill>
                <a:latin typeface="Calibri"/>
              </a:rPr>
              <a:t>&gt; Full unfreeze (avoids BN disruption)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7863840" cy="914400"/>
          </a:xfrm>
          <a:prstGeom prst="roundRect">
            <a:avLst/>
          </a:prstGeom>
          <a:solidFill>
            <a:srgbClr val="1419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7EE787"/>
                </a:solidFill>
                <a:latin typeface="Calibri"/>
              </a:rPr>
              <a:t>Augmentation  </a:t>
            </a:r>
            <a:r>
              <a:rPr sz="2000" b="0" i="0">
                <a:solidFill>
                  <a:srgbClr val="B4B4BE"/>
                </a:solidFill>
                <a:latin typeface="Calibri"/>
              </a:rPr>
              <a:t>&gt; More parameters (addresses root cause)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83480"/>
            <a:ext cx="7863840" cy="914400"/>
          </a:xfrm>
          <a:prstGeom prst="roundRect">
            <a:avLst/>
          </a:prstGeom>
          <a:solidFill>
            <a:srgbClr val="1419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7EE787"/>
                </a:solidFill>
                <a:latin typeface="Calibri"/>
              </a:rPr>
              <a:t>EarlyStopping + LR scheduling  </a:t>
            </a:r>
            <a:r>
              <a:rPr sz="2000" b="0" i="0">
                <a:solidFill>
                  <a:srgbClr val="B4B4BE"/>
                </a:solidFill>
                <a:latin typeface="Calibri"/>
              </a:rPr>
              <a:t>= automated hyperparameter 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87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58A6FF"/>
                </a:solidFill>
                <a:latin typeface="Calibri"/>
              </a:rPr>
              <a:t>Future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spcAft>
                <a:spcPts val="400"/>
              </a:spcAft>
            </a:pPr>
            <a:r>
              <a:rPr sz="2000" b="0" i="0">
                <a:solidFill>
                  <a:srgbClr val="B4B4BE"/>
                </a:solidFill>
                <a:latin typeface="Calibri"/>
              </a:rPr>
              <a:t>•  Use full 50K training set</a:t>
            </a:r>
          </a:p>
          <a:p>
            <a:pPr algn="l">
              <a:lnSpc>
                <a:spcPts val="3200"/>
              </a:lnSpc>
              <a:spcAft>
                <a:spcPts val="400"/>
              </a:spcAft>
            </a:pPr>
            <a:r>
              <a:rPr sz="2000" b="0" i="0">
                <a:solidFill>
                  <a:srgbClr val="B4B4BE"/>
                </a:solidFill>
                <a:latin typeface="Calibri"/>
              </a:rPr>
              <a:t>•  Fix MobileNetV2 preprocessing</a:t>
            </a:r>
          </a:p>
          <a:p>
            <a:pPr algn="l">
              <a:lnSpc>
                <a:spcPts val="3200"/>
              </a:lnSpc>
              <a:spcAft>
                <a:spcPts val="400"/>
              </a:spcAft>
            </a:pPr>
            <a:r>
              <a:rPr sz="2000" b="0" i="0">
                <a:solidFill>
                  <a:srgbClr val="B4B4BE"/>
                </a:solidFill>
                <a:latin typeface="Calibri"/>
              </a:rPr>
              <a:t>•  Try EfficientNetB0</a:t>
            </a:r>
          </a:p>
          <a:p>
            <a:pPr algn="l">
              <a:lnSpc>
                <a:spcPts val="3200"/>
              </a:lnSpc>
              <a:spcAft>
                <a:spcPts val="400"/>
              </a:spcAft>
            </a:pPr>
            <a:r>
              <a:rPr sz="2000" b="0" i="0">
                <a:solidFill>
                  <a:srgbClr val="B4B4BE"/>
                </a:solidFill>
                <a:latin typeface="Calibri"/>
              </a:rPr>
              <a:t>•  Train 100+ epochs with EarlyStopping</a:t>
            </a:r>
          </a:p>
          <a:p>
            <a:pPr algn="l">
              <a:lnSpc>
                <a:spcPts val="3200"/>
              </a:lnSpc>
              <a:spcAft>
                <a:spcPts val="400"/>
              </a:spcAft>
            </a:pPr>
            <a:r>
              <a:rPr sz="2000" b="0" i="0">
                <a:solidFill>
                  <a:srgbClr val="B4B4BE"/>
                </a:solidFill>
                <a:latin typeface="Calibri"/>
              </a:rPr>
              <a:t>•  Advanced augmentation (CutMix, MixUp)</a:t>
            </a:r>
          </a:p>
          <a:p>
            <a:pPr algn="l">
              <a:lnSpc>
                <a:spcPts val="3200"/>
              </a:lnSpc>
              <a:spcAft>
                <a:spcPts val="400"/>
              </a:spcAft>
            </a:pPr>
            <a:r>
              <a:rPr sz="2000" b="0" i="0">
                <a:solidFill>
                  <a:srgbClr val="B4B4BE"/>
                </a:solidFill>
                <a:latin typeface="Calibri"/>
              </a:rPr>
              <a:t>•  Upsample to 64×64 or 96×96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87887"/>
                </a:solidFill>
                <a:latin typeface="Calibri"/>
              </a:rPr>
              <a:t>Each improvement targets a specific bottleneck identified in this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87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58A6FF"/>
                </a:solidFill>
                <a:latin typeface="Calibri"/>
              </a:rP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389120"/>
            <a:ext cx="365760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87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